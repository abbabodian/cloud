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9276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95360" y="0"/>
            <a:ext cx="548640" cy="5143500"/>
          </a:xfrm>
          <a:prstGeom prst="rect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1565C0">
              <a:alpha val="30000"/>
            </a:srgbClr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0" y="2926080"/>
            <a:ext cx="1828800" cy="1828800"/>
          </a:xfrm>
          <a:prstGeom prst="ellipse">
            <a:avLst/>
          </a:prstGeom>
          <a:solidFill>
            <a:srgbClr val="7B2FBE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502920"/>
            <a:ext cx="1828800" cy="384048"/>
          </a:xfrm>
          <a:prstGeom prst="roundRect">
            <a:avLst>
              <a:gd name="adj" fmla="val 11905"/>
            </a:avLst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EduTech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0972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EduPath Africa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11480" y="21488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FE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Système de Recommandation</a:t>
            </a:r>
            <a:endParaRPr lang="en-US" sz="2200" dirty="0"/>
          </a:p>
          <a:p>
            <a:pPr marL="0" indent="0">
              <a:buNone/>
            </a:pPr>
            <a:r>
              <a:rPr lang="en-US" sz="2200" i="1" dirty="0">
                <a:solidFill>
                  <a:srgbClr val="CFE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 Parcours de Formation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11480" y="3108960"/>
            <a:ext cx="32004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Bodian &amp; Mariama Bailo Barry</a:t>
            </a: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1300" dirty="0">
                <a:solidFill>
                  <a:srgbClr val="CFE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: AWS Academy Cloud Foundations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703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: M. LAM Sabarane   |   Projet P-06   |   Année 2025–2026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4206240"/>
            <a:ext cx="1463040" cy="347472"/>
          </a:xfrm>
          <a:prstGeom prst="roundRect">
            <a:avLst>
              <a:gd name="adj" fmla="val 18421"/>
            </a:avLst>
          </a:prstGeom>
          <a:solidFill>
            <a:srgbClr val="1A2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42062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AWS Lambda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11680" y="4206240"/>
            <a:ext cx="1463040" cy="347472"/>
          </a:xfrm>
          <a:prstGeom prst="roundRect">
            <a:avLst>
              <a:gd name="adj" fmla="val 18421"/>
            </a:avLst>
          </a:prstGeom>
          <a:solidFill>
            <a:srgbClr val="1A2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011680" y="42062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DynamoDB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11880" y="4206240"/>
            <a:ext cx="1463040" cy="347472"/>
          </a:xfrm>
          <a:prstGeom prst="roundRect">
            <a:avLst>
              <a:gd name="adj" fmla="val 18421"/>
            </a:avLst>
          </a:prstGeom>
          <a:solidFill>
            <a:srgbClr val="1A2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11880" y="42062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S3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0" y="4206240"/>
            <a:ext cx="1463040" cy="347472"/>
          </a:xfrm>
          <a:prstGeom prst="roundRect">
            <a:avLst>
              <a:gd name="adj" fmla="val 18421"/>
            </a:avLst>
          </a:prstGeom>
          <a:solidFill>
            <a:srgbClr val="1A2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212080" y="42062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CloudFront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12280" y="4206240"/>
            <a:ext cx="1463040" cy="347472"/>
          </a:xfrm>
          <a:prstGeom prst="roundRect">
            <a:avLst>
              <a:gd name="adj" fmla="val 18421"/>
            </a:avLst>
          </a:prstGeom>
          <a:solidFill>
            <a:srgbClr val="1A2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12280" y="42062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IAM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: L'Éducation Numérique en Afrique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011680" cy="10972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74320" y="24688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 la population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africaine &lt; 25 ans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3520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0A4AE"/>
                </a:solidFill>
              </a:rPr>
              <a:t>ONU 2025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23444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50592" y="1234440"/>
            <a:ext cx="2011680" cy="109728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50592" y="1463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230M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450592" y="24688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emplois numériques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manquants d'ici 2030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50592" y="3520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0A4AE"/>
                </a:solidFill>
              </a:rPr>
              <a:t>WEF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23444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26864" y="1234440"/>
            <a:ext cx="2011680" cy="10972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26864" y="1463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626864" y="24688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croissance annuelle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EdTech Afrique (CAGR)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26864" y="3520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0A4AE"/>
                </a:solidFill>
              </a:rPr>
              <a:t>Mordor Intelligence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03136" y="123444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03136" y="1234440"/>
            <a:ext cx="2011680" cy="10972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03136" y="14630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~43%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6803136" y="24688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taux de pénétration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internet en Afrique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03136" y="3520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0A4AE"/>
                </a:solidFill>
              </a:rPr>
              <a:t>ITU 2024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0D1B2A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B4D8"/>
                </a:solidFill>
              </a:rPr>
              <a:t>Ce déficit de compétences numériques représente une opportunité unique pour les plateformes EdTech africaines.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EduPath Africa — Présentation &amp; Problématique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3840480" cy="3474720"/>
          </a:xfrm>
          <a:prstGeom prst="rect">
            <a:avLst/>
          </a:prstGeom>
          <a:solidFill>
            <a:srgbClr val="1A2E45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384048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La Plateforme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33832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cours en ligne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IA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Cybersécurité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Logiciel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234440"/>
            <a:ext cx="4023360" cy="3474720"/>
          </a:xfrm>
          <a:prstGeom prst="rect">
            <a:avLst/>
          </a:prstGeom>
          <a:solidFill>
            <a:srgbClr val="1A2E45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0" y="1234440"/>
            <a:ext cx="4023360" cy="411480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2344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La Problématique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7830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E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Face à des centaines d'options, un apprenant peut se sentir submergé, entraînant une baisse d'engagement.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74920" y="2651760"/>
            <a:ext cx="3566160" cy="4572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74920" y="2788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</a:rPr>
              <a:t>Notre solution 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4920" y="310896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 moteur de recommandation personnalisé serverless AWS qui analyse le profil de chaque apprenant et suggère les 5 meilleurs cours en temps réel.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Objectifs du Projet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777240"/>
          </a:xfrm>
          <a:prstGeom prst="rect">
            <a:avLst/>
          </a:prstGeom>
          <a:solidFill>
            <a:srgbClr val="7B2FBE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FFFFF"/>
                </a:solidFill>
              </a:rPr>
              <a:t>  Objectif Principal : Générer une liste personnalisée de 5 </a:t>
            </a:r>
            <a:r>
              <a:rPr lang="en-US" sz="1400" b="1" dirty="0" err="1">
                <a:solidFill>
                  <a:srgbClr val="FFFFFF"/>
                </a:solidFill>
              </a:rPr>
              <a:t>cours</a:t>
            </a:r>
            <a:r>
              <a:rPr lang="en-US" sz="1400" b="1" dirty="0">
                <a:solidFill>
                  <a:srgbClr val="FFFFFF"/>
                </a:solidFill>
              </a:rPr>
              <a:t>  </a:t>
            </a:r>
            <a:r>
              <a:rPr lang="fr-SN" sz="1400" b="1" dirty="0">
                <a:solidFill>
                  <a:schemeClr val="bg1"/>
                </a:solidFill>
              </a:rPr>
              <a:t>pour n'importe quel apprenant, avec une      explication claire justifiant chaque suggestion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20" y="219456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2194560"/>
            <a:ext cx="73152" cy="10972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  Architecture Serverless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Lambda, DynamoDB, S3, CloudFront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54680" y="219456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54680" y="2194560"/>
            <a:ext cx="73152" cy="10972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37560" y="2286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  Modélisation NoSQL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697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tables DynamoDB optimisées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219456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0" y="2194560"/>
            <a:ext cx="73152" cy="10972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2286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 Algorithme ML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697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Content-Based Filtering en Python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347472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474720"/>
            <a:ext cx="73152" cy="10972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566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🔒  Sécurité IAM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977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Principe de moindre privilège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154680" y="347472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154680" y="3474720"/>
            <a:ext cx="73152" cy="10972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37560" y="3566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  Monitoring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37560" y="3977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CloudWatch logs, métriques, alarmes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035040" y="347472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035040" y="3474720"/>
            <a:ext cx="73152" cy="10972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17920" y="3566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🌐  Interface Web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17920" y="39776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Frontend statique S3 + CloudFront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Architecture Serverless AWS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737360"/>
            <a:ext cx="1508760" cy="1234440"/>
          </a:xfrm>
          <a:prstGeom prst="rect">
            <a:avLst/>
          </a:prstGeom>
          <a:solidFill>
            <a:srgbClr val="00B4D8">
              <a:alpha val="85000"/>
            </a:srgbClr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737360"/>
            <a:ext cx="150876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187452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Navigateur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Utilisateur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737360" y="2267712"/>
            <a:ext cx="411480" cy="5486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20574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D166"/>
                </a:solidFill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65960" y="1737360"/>
            <a:ext cx="1508760" cy="1234440"/>
          </a:xfrm>
          <a:prstGeom prst="rect">
            <a:avLst/>
          </a:prstGeom>
          <a:solidFill>
            <a:srgbClr val="7B2FBE">
              <a:alpha val="85000"/>
            </a:srgbClr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65960" y="1737360"/>
            <a:ext cx="1508760" cy="91440"/>
          </a:xfrm>
          <a:prstGeom prst="rect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65960" y="187452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CloudFront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CDN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74720" y="2267712"/>
            <a:ext cx="411480" cy="5486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49040" y="20574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D166"/>
                </a:solidFill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03320" y="1737360"/>
            <a:ext cx="1508760" cy="1234440"/>
          </a:xfrm>
          <a:prstGeom prst="rect">
            <a:avLst/>
          </a:prstGeom>
          <a:solidFill>
            <a:srgbClr val="1565C0">
              <a:alpha val="85000"/>
            </a:srgbClr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703320" y="1737360"/>
            <a:ext cx="1508760" cy="914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03320" y="187452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S3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Frontend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212080" y="2267712"/>
            <a:ext cx="411480" cy="5486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0" y="20574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D166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40680" y="1737360"/>
            <a:ext cx="1508760" cy="1234440"/>
          </a:xfrm>
          <a:prstGeom prst="rect">
            <a:avLst/>
          </a:prstGeom>
          <a:solidFill>
            <a:srgbClr val="F72585">
              <a:alpha val="85000"/>
            </a:srgbClr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40680" y="1737360"/>
            <a:ext cx="1508760" cy="91440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40680" y="187452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Lambda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Recommandation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949440" y="2267712"/>
            <a:ext cx="411480" cy="5486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223760" y="20574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D166"/>
                </a:solidFill>
              </a:rPr>
              <a:t>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78040" y="1737360"/>
            <a:ext cx="1508760" cy="1234440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178040" y="1737360"/>
            <a:ext cx="1508760" cy="9144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78040" y="187452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DynamoDB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Base de données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423160" y="3364992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FFD16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359427" y="3383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 algn="ctr"/>
            <a:r>
              <a:rPr lang="en-US" sz="1300" b="1" dirty="0">
                <a:solidFill>
                  <a:srgbClr val="FFFFFF"/>
                </a:solidFill>
              </a:rPr>
              <a:t>CloudWatch  Monitoring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17820" y="3346704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9B59B6">
              <a:alpha val="80000"/>
            </a:srgbClr>
          </a:solidFill>
          <a:ln/>
        </p:spPr>
        <p:txBody>
          <a:bodyPr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IAM  Sécurité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0" y="33375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28600" y="4114800"/>
            <a:ext cx="8686800" cy="77724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41148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Flux : </a:t>
            </a:r>
            <a:r>
              <a:rPr lang="en-US" sz="1200" dirty="0">
                <a:solidFill>
                  <a:srgbClr val="CFE2FF"/>
                </a:solidFill>
              </a:rPr>
              <a:t>① Profil utilisateur → ② Requête CloudFront → ③ Lambda calcule les scores → ④ Lit DynamoDB → ⑤ Retourne Top 5 cours</a:t>
            </a:r>
            <a:endParaRPr lang="en-US" sz="1200" dirty="0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7F69ECAF-4E98-11B1-11C6-AD87D6B92ECB}"/>
              </a:ext>
            </a:extLst>
          </p:cNvPr>
          <p:cNvSpPr txBox="1"/>
          <p:nvPr/>
        </p:nvSpPr>
        <p:spPr>
          <a:xfrm>
            <a:off x="2286000" y="238594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IAM  Sécurité</a:t>
            </a:r>
            <a:endParaRPr lang="en-US" sz="1800" dirty="0"/>
          </a:p>
        </p:txBody>
      </p:sp>
      <p:sp>
        <p:nvSpPr>
          <p:cNvPr id="36" name="Shape 21">
            <a:extLst>
              <a:ext uri="{FF2B5EF4-FFF2-40B4-BE49-F238E27FC236}">
                <a16:creationId xmlns:a16="http://schemas.microsoft.com/office/drawing/2014/main" id="{3B99B824-7DFF-A59E-7673-C41431F97FA5}"/>
              </a:ext>
            </a:extLst>
          </p:cNvPr>
          <p:cNvSpPr/>
          <p:nvPr/>
        </p:nvSpPr>
        <p:spPr>
          <a:xfrm flipH="1">
            <a:off x="7978139" y="2980944"/>
            <a:ext cx="63734" cy="41020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Choix des Services AWS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73152" cy="548640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AWS Lambda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1188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Moteur de recommandation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20640" y="1188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565C0"/>
                </a:solidFill>
              </a:rPr>
              <a:t>Serverless, scalabilité auto, paiement à l'usage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810512"/>
            <a:ext cx="8595360" cy="548640"/>
          </a:xfrm>
          <a:prstGeom prst="rect">
            <a:avLst/>
          </a:prstGeom>
          <a:solidFill>
            <a:srgbClr val="EAF4FB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810512"/>
            <a:ext cx="73152" cy="5486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8105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Amazon DynamoDB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8880" y="181051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Base de données NoSQL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181051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565C0"/>
                </a:solidFill>
              </a:rPr>
              <a:t>Schéma flexible, latence &lt; 10ms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432304"/>
            <a:ext cx="85953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432304"/>
            <a:ext cx="73152" cy="5486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43230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Amazon S3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2432304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Hébergement frontend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243230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565C0"/>
                </a:solidFill>
              </a:rPr>
              <a:t>Durabilité 99.999%, coût minimal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054096"/>
            <a:ext cx="8595360" cy="548640"/>
          </a:xfrm>
          <a:prstGeom prst="rect">
            <a:avLst/>
          </a:prstGeom>
          <a:solidFill>
            <a:srgbClr val="EAF4FB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054096"/>
            <a:ext cx="73152" cy="548640"/>
          </a:xfrm>
          <a:prstGeom prst="rect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05409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Amazon CloudFront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68880" y="3054096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CDN global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20640" y="305409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565C0"/>
                </a:solidFill>
              </a:rPr>
              <a:t>Cache HTTPS, réduction latence pour l'Afrique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675888"/>
            <a:ext cx="85953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3675888"/>
            <a:ext cx="73152" cy="54864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367588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AWS IAM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468880" y="367588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Sécurité &amp; accès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0" y="367588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565C0"/>
                </a:solidFill>
              </a:rPr>
              <a:t>Moindre privilège, granularité fine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297680"/>
            <a:ext cx="8595360" cy="548640"/>
          </a:xfrm>
          <a:prstGeom prst="rect">
            <a:avLst/>
          </a:prstGeom>
          <a:solidFill>
            <a:srgbClr val="EAF4FB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74320" y="4297680"/>
            <a:ext cx="73152" cy="54864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4297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Amazon CloudWatch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468880" y="4297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Monitoring &amp; alertes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20640" y="42976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565C0"/>
                </a:solidFill>
              </a:rPr>
              <a:t>Logs, métriques, alarmes automatiques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B4D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Modélisation des Données — DynamoDB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423160" cy="3657600"/>
          </a:xfrm>
          <a:prstGeom prst="rect">
            <a:avLst/>
          </a:prstGeom>
          <a:solidFill>
            <a:srgbClr val="1A2E45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423160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EduPath_Apprenants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783080"/>
            <a:ext cx="2148840" cy="347472"/>
          </a:xfrm>
          <a:prstGeom prst="roundRect">
            <a:avLst>
              <a:gd name="adj" fmla="val 13158"/>
            </a:avLst>
          </a:prstGeom>
          <a:solidFill>
            <a:srgbClr val="00B4D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🔑 apprenant_id (PK)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2FF"/>
                </a:solidFill>
              </a:rPr>
              <a:t>• nom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2FF"/>
                </a:solidFill>
              </a:rPr>
              <a:t>• pays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2FF"/>
                </a:solidFill>
              </a:rPr>
              <a:t>• niveau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2FF"/>
                </a:solidFill>
              </a:rPr>
              <a:t>• spécialisation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52044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2FF"/>
                </a:solidFill>
              </a:rPr>
              <a:t>• tags_intérêt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1188720"/>
            <a:ext cx="2423160" cy="3657600"/>
          </a:xfrm>
          <a:prstGeom prst="rect">
            <a:avLst/>
          </a:prstGeom>
          <a:solidFill>
            <a:srgbClr val="1A2E45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37560" y="1188720"/>
            <a:ext cx="2423160" cy="45720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37560" y="1188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EduPath_Cours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0" y="1783080"/>
            <a:ext cx="2148840" cy="347472"/>
          </a:xfrm>
          <a:prstGeom prst="roundRect">
            <a:avLst>
              <a:gd name="adj" fmla="val 13158"/>
            </a:avLst>
          </a:prstGeom>
          <a:solidFill>
            <a:srgbClr val="06D6A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74720" y="1783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🔑 cours_id (PK)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20440" y="224028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2FF"/>
                </a:solidFill>
              </a:rPr>
              <a:t>• titre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20440" y="256032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2FF"/>
                </a:solidFill>
              </a:rPr>
              <a:t>• catégorie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20440" y="288036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2FF"/>
                </a:solidFill>
              </a:rPr>
              <a:t>• tags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20440" y="320040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2FF"/>
                </a:solidFill>
              </a:rPr>
              <a:t>• niveau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20440" y="352044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2FF"/>
                </a:solidFill>
              </a:rPr>
              <a:t>• rating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1188720"/>
            <a:ext cx="2423160" cy="3657600"/>
          </a:xfrm>
          <a:prstGeom prst="rect">
            <a:avLst/>
          </a:prstGeom>
          <a:solidFill>
            <a:srgbClr val="1A2E45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00800" y="1188720"/>
            <a:ext cx="2423160" cy="457200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0" y="1188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EduPath_Interactions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37960" y="1783080"/>
            <a:ext cx="2148840" cy="347472"/>
          </a:xfrm>
          <a:prstGeom prst="roundRect">
            <a:avLst>
              <a:gd name="adj" fmla="val 13158"/>
            </a:avLst>
          </a:prstGeom>
          <a:solidFill>
            <a:srgbClr val="F7258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37960" y="1783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🔑 apprenant_id (PK)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537960" y="2212848"/>
            <a:ext cx="2148840" cy="320040"/>
          </a:xfrm>
          <a:prstGeom prst="roundRect">
            <a:avLst>
              <a:gd name="adj" fmla="val 14286"/>
            </a:avLst>
          </a:prstGeom>
          <a:solidFill>
            <a:srgbClr val="FFD166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37960" y="221284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D166"/>
                </a:solidFill>
              </a:rPr>
              <a:t>🔑 cours_id_ts (SK)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83680" y="265176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2FF"/>
                </a:solidFill>
              </a:rPr>
              <a:t>• type_interaction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297180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2FF"/>
                </a:solidFill>
              </a:rPr>
              <a:t>• note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329184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2FF"/>
                </a:solidFill>
              </a:rPr>
              <a:t>• progression_pct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97180" y="485546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D166"/>
                </a:solidFill>
              </a:rPr>
              <a:t>20 apprenants  •  75 cours  •  100+ interactions générées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Moteur de Recommandation — Content-Based Filtering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50292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(0.45 × Tags) + (0.25 × Niveau) + (0.20 × Rating) + (0.10 × Popularité)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2011680" cy="91440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2057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72585"/>
                </a:solidFill>
              </a:rPr>
              <a:t>45%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74320" y="2834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1B2A"/>
                </a:solidFill>
              </a:rPr>
              <a:t>Score Tags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4320" y="3291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Similarité Jaccard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entre les tags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50592" y="192024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50592" y="1920240"/>
            <a:ext cx="2011680" cy="914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50592" y="2057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</a:rPr>
              <a:t>25%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450592" y="2834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1B2A"/>
                </a:solidFill>
              </a:rPr>
              <a:t>Score Niveau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450592" y="3291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Progression du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niveau apprenant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26864" y="192024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26864" y="1920240"/>
            <a:ext cx="2011680" cy="9144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26864" y="2057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D6A0"/>
                </a:solidFill>
              </a:rPr>
              <a:t>20%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626864" y="2834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1B2A"/>
                </a:solidFill>
              </a:rPr>
              <a:t>Score Rating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626864" y="3291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Normalisation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 la note cours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03136" y="1920240"/>
            <a:ext cx="20116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03136" y="1920240"/>
            <a:ext cx="2011680" cy="9144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03136" y="2057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166"/>
                </a:solidFill>
              </a:rPr>
              <a:t>10%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803136" y="2834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1B2A"/>
                </a:solidFill>
              </a:rPr>
              <a:t>Score Popularité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803136" y="3291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Échelle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logarithmique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343400"/>
            <a:ext cx="4114800" cy="594360"/>
          </a:xfrm>
          <a:prstGeom prst="rect">
            <a:avLst/>
          </a:prstGeom>
          <a:solidFill>
            <a:srgbClr val="06D6A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43434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74F"/>
                </a:solidFill>
              </a:rPr>
              <a:t> Avantages : </a:t>
            </a:r>
            <a:r>
              <a:rPr lang="en-US" sz="1100" dirty="0">
                <a:solidFill>
                  <a:srgbClr val="37474F"/>
                </a:solidFill>
              </a:rPr>
              <a:t>Pas de cold-start — Transparent — Fonctionnel dès la création du profil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4343400"/>
            <a:ext cx="4114800" cy="594360"/>
          </a:xfrm>
          <a:prstGeom prst="rect">
            <a:avLst/>
          </a:prstGeom>
          <a:solidFill>
            <a:srgbClr val="F72585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0" y="43434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 </a:t>
            </a:r>
            <a:r>
              <a:rPr lang="en-US" sz="1100" b="1" dirty="0">
                <a:solidFill>
                  <a:srgbClr val="37474F"/>
                </a:solidFill>
              </a:rPr>
              <a:t>Limites</a:t>
            </a:r>
            <a:r>
              <a:rPr lang="en-US" sz="1100" dirty="0">
                <a:solidFill>
                  <a:srgbClr val="37474F"/>
                </a:solidFill>
              </a:rPr>
              <a:t> : Manque de sérendipité — Pas de filtrage collaboratif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Interface Utilisateur — Premium Dark Theme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389120" cy="3566160"/>
          </a:xfrm>
          <a:prstGeom prst="rect">
            <a:avLst/>
          </a:prstGeom>
          <a:solidFill>
            <a:srgbClr val="111827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389120" cy="384048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4360" y="1298448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298448"/>
            <a:ext cx="137160" cy="1371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12435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EduPath Africa — Recommandations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691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EduPath Africa ✦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148840"/>
            <a:ext cx="3657600" cy="365760"/>
          </a:xfrm>
          <a:prstGeom prst="roundRect">
            <a:avLst>
              <a:gd name="adj" fmla="val 12500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Sélectionner un apprenant…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4023360" cy="530352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64008" cy="5303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65176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★ Intro to AWS Cloud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23360" y="2651760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92%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4023360" cy="530352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64008" cy="53035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29184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★ Data Science Basics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23360" y="3291840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92%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4023360" cy="530352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64008" cy="530352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393192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★ Python for AI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023360" y="3931920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59B6"/>
                </a:solidFill>
              </a:rPr>
              <a:t>92%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0" y="1234440"/>
            <a:ext cx="3840480" cy="530352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66360" y="123444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🔲  Navbar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32320" y="123444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B4D8"/>
                </a:solidFill>
              </a:rPr>
              <a:t>Glassmorphism CSS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0" y="1856232"/>
            <a:ext cx="3840480" cy="530352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66360" y="185623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🎯  Sélection Apprenant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32320" y="185623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B4D8"/>
                </a:solidFill>
              </a:rPr>
              <a:t>JavaScript fetch()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0" y="2478024"/>
            <a:ext cx="3840480" cy="530352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66360" y="2478024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⏳  Spinner Chargement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132320" y="2478024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B4D8"/>
                </a:solidFill>
              </a:rPr>
              <a:t>CSS animations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0" y="3099816"/>
            <a:ext cx="3840480" cy="530352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166360" y="3099816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🃏  Cartes de cours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132320" y="3099816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B4D8"/>
                </a:solidFill>
              </a:rPr>
              <a:t>DOM manipulation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29200" y="3721608"/>
            <a:ext cx="3840480" cy="530352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166360" y="372160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Barre de progression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132320" y="3721608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B4D8"/>
                </a:solidFill>
              </a:rPr>
              <a:t>CSS gradient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29200" y="4343400"/>
            <a:ext cx="3840480" cy="530352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166360" y="434340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🌙  Dark Theme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132320" y="434340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B4D8"/>
                </a:solidFill>
              </a:rPr>
              <a:t>CSS custom properties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</a:rPr>
              <a:t>Pipeline de Déploiement Automatisé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594360" cy="47548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18872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IAM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11887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Création des rôles LambdaReco &amp; LambdaAdmin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728216"/>
            <a:ext cx="8595360" cy="475488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728216"/>
            <a:ext cx="594360" cy="47548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728216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172821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DynamoDB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1728216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Création des 3 tables avec clés et attributs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267712"/>
            <a:ext cx="859536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267712"/>
            <a:ext cx="594360" cy="47548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267712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2267712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Données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68880" y="2267712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 apprenants + 75 cours + 100 interactions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807208"/>
            <a:ext cx="8595360" cy="475488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2807208"/>
            <a:ext cx="594360" cy="475488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2807208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2807208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Lambda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468880" y="2807208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Package ZIP, déploiement + Function URL CORS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346704"/>
            <a:ext cx="859536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3346704"/>
            <a:ext cx="594360" cy="47548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3346704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3346704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468880" y="3346704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Création bucket, upload frontend, static hosting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3886200"/>
            <a:ext cx="8595360" cy="475488"/>
          </a:xfrm>
          <a:prstGeom prst="rect">
            <a:avLst/>
          </a:prstGeom>
          <a:solidFill>
            <a:srgbClr val="EFF6FF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74320" y="3886200"/>
            <a:ext cx="594360" cy="475488"/>
          </a:xfrm>
          <a:prstGeom prst="rect">
            <a:avLst/>
          </a:prstGeom>
          <a:solidFill>
            <a:srgbClr val="7B2F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388620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60120" y="388620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CloudFront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468880" y="388620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CDN, TTL 3600s, HTTPS, origines S3+Lambda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4320" y="4425696"/>
            <a:ext cx="859536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74320" y="4425696"/>
            <a:ext cx="594360" cy="475488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4320" y="4425696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60120" y="4425696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CloudWatch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468880" y="4425696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Dashboard, alarmes erreurs, logs Lambda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565C0"/>
                </a:solidFill>
              </a:rPr>
              <a:t>Automatisation 100% boto3 — Infrastructure as Code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D16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Sécurité IAM &amp; Monitoring CloudWatch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023360" cy="3566160"/>
          </a:xfrm>
          <a:prstGeom prst="rect">
            <a:avLst/>
          </a:prstGeom>
          <a:solidFill>
            <a:srgbClr val="1A2E45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023360" cy="45720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🔐 Gestion IAM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6576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64008" cy="7772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LambdaRecoRole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DynamoDB Read + CloudWatch Logs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6576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64008" cy="77724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7432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LambdaAdminRole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1089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DynamoDB Read/Write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3657600" cy="77724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64008" cy="77724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703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S3 Bucket Policy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0690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s3:GetObject — accès public frontend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1188720"/>
            <a:ext cx="4023360" cy="3566160"/>
          </a:xfrm>
          <a:prstGeom prst="rect">
            <a:avLst/>
          </a:prstGeom>
          <a:solidFill>
            <a:srgbClr val="1A2E45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0" y="1188720"/>
            <a:ext cx="4023360" cy="457200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1188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📊 CloudWatch Monitoring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0" y="1783080"/>
            <a:ext cx="3566160" cy="5943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166360" y="178308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9B59B6"/>
                </a:solidFill>
              </a:rPr>
              <a:t>Logs Lambda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66360" y="20756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Rétention : 30 jours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0" y="2487168"/>
            <a:ext cx="3566160" cy="5943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66360" y="248716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9B59B6"/>
                </a:solidFill>
              </a:rPr>
              <a:t>Métriques Invocations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277977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Dashboard temps réel — 1 min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3191256"/>
            <a:ext cx="3566160" cy="5943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66360" y="319125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9B59B6"/>
                </a:solidFill>
              </a:rPr>
              <a:t>Métriques Duration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66360" y="34838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Alerte si &gt; 10 secondes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0" y="3895344"/>
            <a:ext cx="3566160" cy="5943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66360" y="3895344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9B59B6"/>
                </a:solidFill>
              </a:rPr>
              <a:t>Alarme Erreurs SNS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66360" y="4187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2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Seuil : &gt; 5 erreurs / 5 min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D6A0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Résultats &amp; Conclusion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0" y="1097280"/>
            <a:ext cx="2194560" cy="2194560"/>
          </a:xfrm>
          <a:prstGeom prst="ellipse">
            <a:avLst/>
          </a:prstGeom>
          <a:solidFill>
            <a:srgbClr val="06D6A0">
              <a:alpha val="85000"/>
            </a:srgbClr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0" y="13716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88.4%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474720" y="24688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2FF"/>
                </a:solidFill>
              </a:rPr>
              <a:t>Pertinence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FE2FF"/>
                </a:solidFill>
              </a:rPr>
              <a:t>moyenne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3474720"/>
            <a:ext cx="1600200" cy="32004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8600" y="3474720"/>
            <a:ext cx="1472184" cy="320040"/>
          </a:xfrm>
          <a:prstGeom prst="rect">
            <a:avLst/>
          </a:prstGeom>
          <a:solidFill>
            <a:srgbClr val="00B4D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8600" y="34747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92%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" y="385876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FE2FF"/>
                </a:solidFill>
              </a:rPr>
              <a:t>Débutant Cloud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65960" y="3474720"/>
            <a:ext cx="1600200" cy="32004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965960" y="3474720"/>
            <a:ext cx="1408176" cy="320040"/>
          </a:xfrm>
          <a:prstGeom prst="rect">
            <a:avLst/>
          </a:prstGeom>
          <a:solidFill>
            <a:srgbClr val="1565C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965960" y="34747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88%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65960" y="385876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FE2FF"/>
                </a:solidFill>
              </a:rPr>
              <a:t>Intermédiaire Data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03320" y="3474720"/>
            <a:ext cx="1600200" cy="32004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03320" y="3474720"/>
            <a:ext cx="1360170" cy="320040"/>
          </a:xfrm>
          <a:prstGeom prst="rect">
            <a:avLst/>
          </a:prstGeom>
          <a:solidFill>
            <a:srgbClr val="7B2FBE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03320" y="34747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85%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03320" y="385876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FE2FF"/>
                </a:solidFill>
              </a:rPr>
              <a:t>Expert IA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40680" y="3474720"/>
            <a:ext cx="1600200" cy="32004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40680" y="3474720"/>
            <a:ext cx="1440180" cy="320040"/>
          </a:xfrm>
          <a:prstGeom prst="rect">
            <a:avLst/>
          </a:prstGeom>
          <a:solidFill>
            <a:srgbClr val="06D6A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40680" y="34747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90%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385876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FE2FF"/>
                </a:solidFill>
              </a:rPr>
              <a:t>Débutant Cyber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178040" y="3474720"/>
            <a:ext cx="1600200" cy="32004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178040" y="3474720"/>
            <a:ext cx="1392174" cy="320040"/>
          </a:xfrm>
          <a:prstGeom prst="rect">
            <a:avLst/>
          </a:prstGeom>
          <a:solidFill>
            <a:srgbClr val="FFD16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78040" y="34747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87%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78040" y="385876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FE2FF"/>
                </a:solidFill>
              </a:rPr>
              <a:t>Avancé Dev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33141" y="4343400"/>
            <a:ext cx="8686800" cy="64008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65760" y="42976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D166"/>
                </a:solidFill>
              </a:rPr>
              <a:t>Conclusion </a:t>
            </a:r>
            <a:r>
              <a:rPr lang="en-US" sz="1100" b="1" dirty="0">
                <a:solidFill>
                  <a:srgbClr val="FFD166"/>
                </a:solidFill>
              </a:rPr>
              <a:t>: </a:t>
            </a:r>
            <a:r>
              <a:rPr lang="fr-SN" sz="1100" dirty="0">
                <a:solidFill>
                  <a:schemeClr val="bg2"/>
                </a:solidFill>
              </a:rPr>
              <a:t>Ce projet a permis de réaliser avec succès un système de recommandation de bout en bout, de la modélisation des données à son déploiement sur une infrastructure AWS </a:t>
            </a:r>
            <a:r>
              <a:rPr lang="fr-SN" sz="1100" dirty="0" err="1">
                <a:solidFill>
                  <a:schemeClr val="bg2"/>
                </a:solidFill>
              </a:rPr>
              <a:t>serverless</a:t>
            </a:r>
            <a:r>
              <a:rPr lang="fr-SN" sz="1100" dirty="0">
                <a:solidFill>
                  <a:schemeClr val="bg2"/>
                </a:solidFill>
              </a:rPr>
              <a:t>, robuste et sécurisée. Tous les objectifs fixés ont été atteints, constituant une démonstration pratique des 10 modules du cours AWS </a:t>
            </a:r>
            <a:r>
              <a:rPr lang="fr-SN" sz="1100" dirty="0" err="1">
                <a:solidFill>
                  <a:schemeClr val="bg2"/>
                </a:solidFill>
              </a:rPr>
              <a:t>Academy</a:t>
            </a:r>
            <a:r>
              <a:rPr lang="fr-SN" sz="1100" dirty="0">
                <a:solidFill>
                  <a:schemeClr val="bg2"/>
                </a:solidFill>
              </a:rPr>
              <a:t> Cloud </a:t>
            </a:r>
            <a:r>
              <a:rPr lang="fr-SN" sz="1100" dirty="0" err="1">
                <a:solidFill>
                  <a:schemeClr val="bg2"/>
                </a:solidFill>
              </a:rPr>
              <a:t>Foundations</a:t>
            </a:r>
            <a:r>
              <a:rPr lang="fr-SN" sz="1100" dirty="0">
                <a:solidFill>
                  <a:schemeClr val="bg2"/>
                </a:solidFill>
              </a:rPr>
              <a:t>.</a:t>
            </a:r>
            <a:endParaRPr lang="en-US" sz="11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854</Words>
  <Application>Microsoft Office PowerPoint</Application>
  <PresentationFormat>Affichage à l'écran (16:9)</PresentationFormat>
  <Paragraphs>223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EduPath Africa - Système de Recommandation AWS</dc:title>
  <dc:subject>PptxGenJS Presentation</dc:subject>
  <dc:creator>PptxGenJS</dc:creator>
  <cp:lastModifiedBy>barrymariambailo08@gmail.com</cp:lastModifiedBy>
  <cp:revision>2</cp:revision>
  <dcterms:created xsi:type="dcterms:W3CDTF">2026-03-29T15:12:48Z</dcterms:created>
  <dcterms:modified xsi:type="dcterms:W3CDTF">2026-03-29T16:30:15Z</dcterms:modified>
</cp:coreProperties>
</file>